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965"/>
    <a:srgbClr val="B01513"/>
    <a:srgbClr val="E6E6E6"/>
    <a:srgbClr val="225357"/>
    <a:srgbClr val="123D4A"/>
    <a:srgbClr val="133E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07FBBC-572B-4465-B964-6781BD1D84C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01EBF65-4788-4DEE-ADAF-F3EB5B8507C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Segoe UI Light" panose="020B0502040204020203" pitchFamily="34" charset="0"/>
              <a:cs typeface="Segoe UI Light" panose="020B0502040204020203" pitchFamily="34" charset="0"/>
            </a:rPr>
            <a:t>Browse</a:t>
          </a:r>
        </a:p>
      </dgm:t>
    </dgm:pt>
    <dgm:pt modelId="{45D8EB3A-85AC-4BFD-85A0-B43DEA3E38AD}" type="parTrans" cxnId="{80E566D8-7ECE-40EF-9518-CEE24D3C44F7}">
      <dgm:prSet/>
      <dgm:spPr/>
      <dgm:t>
        <a:bodyPr/>
        <a:lstStyle/>
        <a:p>
          <a:endParaRPr lang="en-US"/>
        </a:p>
      </dgm:t>
    </dgm:pt>
    <dgm:pt modelId="{995436D5-10BC-4C35-8E70-9B334C3A2822}" type="sibTrans" cxnId="{80E566D8-7ECE-40EF-9518-CEE24D3C44F7}">
      <dgm:prSet/>
      <dgm:spPr/>
      <dgm:t>
        <a:bodyPr/>
        <a:lstStyle/>
        <a:p>
          <a:endParaRPr lang="en-US"/>
        </a:p>
      </dgm:t>
    </dgm:pt>
    <dgm:pt modelId="{52C71CBD-CECC-4ABF-B114-E7448BE490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Segoe UI Light" panose="020B0502040204020203" pitchFamily="34" charset="0"/>
              <a:cs typeface="Segoe UI Light" panose="020B0502040204020203" pitchFamily="34" charset="0"/>
            </a:rPr>
            <a:t>Add-to-cart</a:t>
          </a:r>
        </a:p>
      </dgm:t>
    </dgm:pt>
    <dgm:pt modelId="{1413374E-518E-4FAC-BBF4-87B4BF2DC08A}" type="parTrans" cxnId="{10E7746E-9122-49F1-920A-C5C836512D37}">
      <dgm:prSet/>
      <dgm:spPr/>
      <dgm:t>
        <a:bodyPr/>
        <a:lstStyle/>
        <a:p>
          <a:endParaRPr lang="en-US"/>
        </a:p>
      </dgm:t>
    </dgm:pt>
    <dgm:pt modelId="{0F5826A6-BB36-470E-BD2F-D1B29E97E8E9}" type="sibTrans" cxnId="{10E7746E-9122-49F1-920A-C5C836512D37}">
      <dgm:prSet/>
      <dgm:spPr/>
      <dgm:t>
        <a:bodyPr/>
        <a:lstStyle/>
        <a:p>
          <a:endParaRPr lang="en-US"/>
        </a:p>
      </dgm:t>
    </dgm:pt>
    <dgm:pt modelId="{0F168FD0-77C5-4CA1-A624-4E00EBB1AE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Segoe UI Light" panose="020B0502040204020203" pitchFamily="34" charset="0"/>
              <a:cs typeface="Segoe UI Light" panose="020B0502040204020203" pitchFamily="34" charset="0"/>
            </a:rPr>
            <a:t>checkout</a:t>
          </a:r>
        </a:p>
      </dgm:t>
    </dgm:pt>
    <dgm:pt modelId="{1BF06641-614B-4F17-B99C-6A5A76C510E6}" type="parTrans" cxnId="{63F8D1C3-C6A0-4916-A972-1A45DE4A33EA}">
      <dgm:prSet/>
      <dgm:spPr/>
      <dgm:t>
        <a:bodyPr/>
        <a:lstStyle/>
        <a:p>
          <a:endParaRPr lang="en-US"/>
        </a:p>
      </dgm:t>
    </dgm:pt>
    <dgm:pt modelId="{32CE5D47-E8C5-4B81-A9C3-3C5B67D751A0}" type="sibTrans" cxnId="{63F8D1C3-C6A0-4916-A972-1A45DE4A33EA}">
      <dgm:prSet/>
      <dgm:spPr/>
      <dgm:t>
        <a:bodyPr/>
        <a:lstStyle/>
        <a:p>
          <a:endParaRPr lang="en-US"/>
        </a:p>
      </dgm:t>
    </dgm:pt>
    <dgm:pt modelId="{0D27812A-150C-4238-980E-1151C21F28B7}" type="pres">
      <dgm:prSet presAssocID="{7F07FBBC-572B-4465-B964-6781BD1D84CF}" presName="root" presStyleCnt="0">
        <dgm:presLayoutVars>
          <dgm:dir/>
          <dgm:resizeHandles val="exact"/>
        </dgm:presLayoutVars>
      </dgm:prSet>
      <dgm:spPr/>
    </dgm:pt>
    <dgm:pt modelId="{2F976F1B-44A4-41F0-9758-C23694598AA8}" type="pres">
      <dgm:prSet presAssocID="{C01EBF65-4788-4DEE-ADAF-F3EB5B8507C9}" presName="compNode" presStyleCnt="0"/>
      <dgm:spPr/>
    </dgm:pt>
    <dgm:pt modelId="{E139D57F-10F3-4E23-8322-68B137986547}" type="pres">
      <dgm:prSet presAssocID="{C01EBF65-4788-4DEE-ADAF-F3EB5B8507C9}" presName="iconBgRect" presStyleLbl="bgShp" presStyleIdx="0" presStyleCnt="3" custLinFactNeighborX="-60085" custLinFactNeighborY="-5284"/>
      <dgm:spPr>
        <a:prstGeom prst="roundRect">
          <a:avLst/>
        </a:prstGeom>
      </dgm:spPr>
    </dgm:pt>
    <dgm:pt modelId="{33A82AAC-69F7-4D14-85F2-8E2430A6883B}" type="pres">
      <dgm:prSet presAssocID="{C01EBF65-4788-4DEE-ADAF-F3EB5B8507C9}" presName="iconRect" presStyleLbl="node1" presStyleIdx="0" presStyleCnt="3" custAng="0" custScaleX="91879" custScaleY="100292" custLinFactX="-14783" custLinFactNeighborX="-100000" custLinFactNeighborY="-1014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EE5EFA26-1E36-429B-8552-9855C3C92C1E}" type="pres">
      <dgm:prSet presAssocID="{C01EBF65-4788-4DEE-ADAF-F3EB5B8507C9}" presName="spaceRect" presStyleCnt="0"/>
      <dgm:spPr/>
    </dgm:pt>
    <dgm:pt modelId="{876834E1-2216-48C4-8A7A-829D684CC26B}" type="pres">
      <dgm:prSet presAssocID="{C01EBF65-4788-4DEE-ADAF-F3EB5B8507C9}" presName="textRect" presStyleLbl="revTx" presStyleIdx="0" presStyleCnt="3" custScaleX="62164" custScaleY="64636" custLinFactNeighborX="-28668" custLinFactNeighborY="-35410">
        <dgm:presLayoutVars>
          <dgm:chMax val="1"/>
          <dgm:chPref val="1"/>
        </dgm:presLayoutVars>
      </dgm:prSet>
      <dgm:spPr/>
    </dgm:pt>
    <dgm:pt modelId="{E61BFA6B-7D56-4481-A2B3-E6BA055BE49E}" type="pres">
      <dgm:prSet presAssocID="{995436D5-10BC-4C35-8E70-9B334C3A2822}" presName="sibTrans" presStyleCnt="0"/>
      <dgm:spPr/>
    </dgm:pt>
    <dgm:pt modelId="{A345629B-85D0-44EC-B4D2-86902EF13557}" type="pres">
      <dgm:prSet presAssocID="{52C71CBD-CECC-4ABF-B114-E7448BE49034}" presName="compNode" presStyleCnt="0"/>
      <dgm:spPr/>
    </dgm:pt>
    <dgm:pt modelId="{2A017BFA-BEE4-4E30-A90C-E2F1809CF2F5}" type="pres">
      <dgm:prSet presAssocID="{52C71CBD-CECC-4ABF-B114-E7448BE49034}" presName="iconBgRect" presStyleLbl="bgShp" presStyleIdx="1" presStyleCnt="3" custLinFactNeighborX="-92356" custLinFactNeighborY="-3950"/>
      <dgm:spPr>
        <a:prstGeom prst="roundRect">
          <a:avLst/>
        </a:prstGeom>
      </dgm:spPr>
    </dgm:pt>
    <dgm:pt modelId="{FCBE59C1-6C70-4D7D-8C31-6338157315E6}" type="pres">
      <dgm:prSet presAssocID="{52C71CBD-CECC-4ABF-B114-E7448BE49034}" presName="iconRect" presStyleLbl="node1" presStyleIdx="1" presStyleCnt="3" custLinFactX="-60963" custLinFactNeighborX="-100000" custLinFactNeighborY="-688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2878131E-EF2F-4650-9F09-91DC8E138023}" type="pres">
      <dgm:prSet presAssocID="{52C71CBD-CECC-4ABF-B114-E7448BE49034}" presName="spaceRect" presStyleCnt="0"/>
      <dgm:spPr/>
    </dgm:pt>
    <dgm:pt modelId="{37B8D4C0-CB05-4631-884C-1919BD6A45A4}" type="pres">
      <dgm:prSet presAssocID="{52C71CBD-CECC-4ABF-B114-E7448BE49034}" presName="textRect" presStyleLbl="revTx" presStyleIdx="1" presStyleCnt="3" custScaleX="66089" custScaleY="70897" custLinFactNeighborX="-64909" custLinFactNeighborY="-12453">
        <dgm:presLayoutVars>
          <dgm:chMax val="1"/>
          <dgm:chPref val="1"/>
        </dgm:presLayoutVars>
      </dgm:prSet>
      <dgm:spPr/>
    </dgm:pt>
    <dgm:pt modelId="{DFA8FDAD-71B9-4DCD-9199-E2EF36E96E4B}" type="pres">
      <dgm:prSet presAssocID="{0F5826A6-BB36-470E-BD2F-D1B29E97E8E9}" presName="sibTrans" presStyleCnt="0"/>
      <dgm:spPr/>
    </dgm:pt>
    <dgm:pt modelId="{72790896-287B-46A6-B671-78B77C6B1AB0}" type="pres">
      <dgm:prSet presAssocID="{0F168FD0-77C5-4CA1-A624-4E00EBB1AE71}" presName="compNode" presStyleCnt="0"/>
      <dgm:spPr/>
    </dgm:pt>
    <dgm:pt modelId="{31AAF9DD-7AE8-433B-9454-BEFADB9A79FB}" type="pres">
      <dgm:prSet presAssocID="{0F168FD0-77C5-4CA1-A624-4E00EBB1AE71}" presName="iconBgRect" presStyleLbl="bgShp" presStyleIdx="2" presStyleCnt="3" custLinFactX="-28121" custLinFactNeighborX="-100000" custLinFactNeighborY="-5380"/>
      <dgm:spPr>
        <a:prstGeom prst="roundRect">
          <a:avLst/>
        </a:prstGeom>
      </dgm:spPr>
    </dgm:pt>
    <dgm:pt modelId="{CC8E7A33-EB7D-4A56-B3E1-1C99CC9ED0A6}" type="pres">
      <dgm:prSet presAssocID="{0F168FD0-77C5-4CA1-A624-4E00EBB1AE71}" presName="iconRect" presStyleLbl="node1" presStyleIdx="2" presStyleCnt="3" custLinFactX="-100000" custLinFactNeighborX="-123297" custLinFactNeighborY="-937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C51A72B5-8916-4D93-AB2B-0FDB44D9EEB5}" type="pres">
      <dgm:prSet presAssocID="{0F168FD0-77C5-4CA1-A624-4E00EBB1AE71}" presName="spaceRect" presStyleCnt="0"/>
      <dgm:spPr/>
    </dgm:pt>
    <dgm:pt modelId="{612B66D6-BCB3-491A-98C9-90EF8C14AE9D}" type="pres">
      <dgm:prSet presAssocID="{0F168FD0-77C5-4CA1-A624-4E00EBB1AE71}" presName="textRect" presStyleLbl="revTx" presStyleIdx="2" presStyleCnt="3" custScaleX="62952" custScaleY="54847" custLinFactNeighborX="-91224" custLinFactNeighborY="-34375">
        <dgm:presLayoutVars>
          <dgm:chMax val="1"/>
          <dgm:chPref val="1"/>
        </dgm:presLayoutVars>
      </dgm:prSet>
      <dgm:spPr/>
    </dgm:pt>
  </dgm:ptLst>
  <dgm:cxnLst>
    <dgm:cxn modelId="{ED0B9B38-152B-4A4A-8AC9-7374574EED73}" type="presOf" srcId="{7F07FBBC-572B-4465-B964-6781BD1D84CF}" destId="{0D27812A-150C-4238-980E-1151C21F28B7}" srcOrd="0" destOrd="0" presId="urn:microsoft.com/office/officeart/2018/5/layout/IconLeafLabelList"/>
    <dgm:cxn modelId="{10E7746E-9122-49F1-920A-C5C836512D37}" srcId="{7F07FBBC-572B-4465-B964-6781BD1D84CF}" destId="{52C71CBD-CECC-4ABF-B114-E7448BE49034}" srcOrd="1" destOrd="0" parTransId="{1413374E-518E-4FAC-BBF4-87B4BF2DC08A}" sibTransId="{0F5826A6-BB36-470E-BD2F-D1B29E97E8E9}"/>
    <dgm:cxn modelId="{F9A1F053-251D-4DBE-8FF8-D0AD539DA48C}" type="presOf" srcId="{52C71CBD-CECC-4ABF-B114-E7448BE49034}" destId="{37B8D4C0-CB05-4631-884C-1919BD6A45A4}" srcOrd="0" destOrd="0" presId="urn:microsoft.com/office/officeart/2018/5/layout/IconLeafLabelList"/>
    <dgm:cxn modelId="{82818B54-EEB3-49E6-A817-E764EE189B25}" type="presOf" srcId="{C01EBF65-4788-4DEE-ADAF-F3EB5B8507C9}" destId="{876834E1-2216-48C4-8A7A-829D684CC26B}" srcOrd="0" destOrd="0" presId="urn:microsoft.com/office/officeart/2018/5/layout/IconLeafLabelList"/>
    <dgm:cxn modelId="{23BB23B7-EE46-4310-AF91-7B215617A470}" type="presOf" srcId="{0F168FD0-77C5-4CA1-A624-4E00EBB1AE71}" destId="{612B66D6-BCB3-491A-98C9-90EF8C14AE9D}" srcOrd="0" destOrd="0" presId="urn:microsoft.com/office/officeart/2018/5/layout/IconLeafLabelList"/>
    <dgm:cxn modelId="{63F8D1C3-C6A0-4916-A972-1A45DE4A33EA}" srcId="{7F07FBBC-572B-4465-B964-6781BD1D84CF}" destId="{0F168FD0-77C5-4CA1-A624-4E00EBB1AE71}" srcOrd="2" destOrd="0" parTransId="{1BF06641-614B-4F17-B99C-6A5A76C510E6}" sibTransId="{32CE5D47-E8C5-4B81-A9C3-3C5B67D751A0}"/>
    <dgm:cxn modelId="{80E566D8-7ECE-40EF-9518-CEE24D3C44F7}" srcId="{7F07FBBC-572B-4465-B964-6781BD1D84CF}" destId="{C01EBF65-4788-4DEE-ADAF-F3EB5B8507C9}" srcOrd="0" destOrd="0" parTransId="{45D8EB3A-85AC-4BFD-85A0-B43DEA3E38AD}" sibTransId="{995436D5-10BC-4C35-8E70-9B334C3A2822}"/>
    <dgm:cxn modelId="{BF294D21-9C62-47AC-A2EA-C07156766A13}" type="presParOf" srcId="{0D27812A-150C-4238-980E-1151C21F28B7}" destId="{2F976F1B-44A4-41F0-9758-C23694598AA8}" srcOrd="0" destOrd="0" presId="urn:microsoft.com/office/officeart/2018/5/layout/IconLeafLabelList"/>
    <dgm:cxn modelId="{65349A81-5695-408B-9620-C52A1DCE967E}" type="presParOf" srcId="{2F976F1B-44A4-41F0-9758-C23694598AA8}" destId="{E139D57F-10F3-4E23-8322-68B137986547}" srcOrd="0" destOrd="0" presId="urn:microsoft.com/office/officeart/2018/5/layout/IconLeafLabelList"/>
    <dgm:cxn modelId="{4AF17AA9-5FC2-4A47-8613-53BAA5759E72}" type="presParOf" srcId="{2F976F1B-44A4-41F0-9758-C23694598AA8}" destId="{33A82AAC-69F7-4D14-85F2-8E2430A6883B}" srcOrd="1" destOrd="0" presId="urn:microsoft.com/office/officeart/2018/5/layout/IconLeafLabelList"/>
    <dgm:cxn modelId="{64E6A5DC-E3E8-4EAE-AAF7-6074029B3B7C}" type="presParOf" srcId="{2F976F1B-44A4-41F0-9758-C23694598AA8}" destId="{EE5EFA26-1E36-429B-8552-9855C3C92C1E}" srcOrd="2" destOrd="0" presId="urn:microsoft.com/office/officeart/2018/5/layout/IconLeafLabelList"/>
    <dgm:cxn modelId="{CB36EABC-322B-4A83-8A2E-FC8767892583}" type="presParOf" srcId="{2F976F1B-44A4-41F0-9758-C23694598AA8}" destId="{876834E1-2216-48C4-8A7A-829D684CC26B}" srcOrd="3" destOrd="0" presId="urn:microsoft.com/office/officeart/2018/5/layout/IconLeafLabelList"/>
    <dgm:cxn modelId="{86AEAA6D-C97B-485A-851A-35DC6A51FF80}" type="presParOf" srcId="{0D27812A-150C-4238-980E-1151C21F28B7}" destId="{E61BFA6B-7D56-4481-A2B3-E6BA055BE49E}" srcOrd="1" destOrd="0" presId="urn:microsoft.com/office/officeart/2018/5/layout/IconLeafLabelList"/>
    <dgm:cxn modelId="{C1764076-0C60-4CC6-BFF6-4BCA96DC81A3}" type="presParOf" srcId="{0D27812A-150C-4238-980E-1151C21F28B7}" destId="{A345629B-85D0-44EC-B4D2-86902EF13557}" srcOrd="2" destOrd="0" presId="urn:microsoft.com/office/officeart/2018/5/layout/IconLeafLabelList"/>
    <dgm:cxn modelId="{9678CFF6-E691-4400-BECE-6DCAF06E4C80}" type="presParOf" srcId="{A345629B-85D0-44EC-B4D2-86902EF13557}" destId="{2A017BFA-BEE4-4E30-A90C-E2F1809CF2F5}" srcOrd="0" destOrd="0" presId="urn:microsoft.com/office/officeart/2018/5/layout/IconLeafLabelList"/>
    <dgm:cxn modelId="{E0EE8D08-7826-46C8-958D-F3ECF44749BF}" type="presParOf" srcId="{A345629B-85D0-44EC-B4D2-86902EF13557}" destId="{FCBE59C1-6C70-4D7D-8C31-6338157315E6}" srcOrd="1" destOrd="0" presId="urn:microsoft.com/office/officeart/2018/5/layout/IconLeafLabelList"/>
    <dgm:cxn modelId="{7FFB009C-3027-441F-A675-9074BB248873}" type="presParOf" srcId="{A345629B-85D0-44EC-B4D2-86902EF13557}" destId="{2878131E-EF2F-4650-9F09-91DC8E138023}" srcOrd="2" destOrd="0" presId="urn:microsoft.com/office/officeart/2018/5/layout/IconLeafLabelList"/>
    <dgm:cxn modelId="{0F1B8CFB-F7FC-4DFC-8AA1-4A0CDBA69942}" type="presParOf" srcId="{A345629B-85D0-44EC-B4D2-86902EF13557}" destId="{37B8D4C0-CB05-4631-884C-1919BD6A45A4}" srcOrd="3" destOrd="0" presId="urn:microsoft.com/office/officeart/2018/5/layout/IconLeafLabelList"/>
    <dgm:cxn modelId="{4EB0D95C-7064-4867-8037-09F8166C44BC}" type="presParOf" srcId="{0D27812A-150C-4238-980E-1151C21F28B7}" destId="{DFA8FDAD-71B9-4DCD-9199-E2EF36E96E4B}" srcOrd="3" destOrd="0" presId="urn:microsoft.com/office/officeart/2018/5/layout/IconLeafLabelList"/>
    <dgm:cxn modelId="{53058394-8C72-48ED-B535-14E23F30473A}" type="presParOf" srcId="{0D27812A-150C-4238-980E-1151C21F28B7}" destId="{72790896-287B-46A6-B671-78B77C6B1AB0}" srcOrd="4" destOrd="0" presId="urn:microsoft.com/office/officeart/2018/5/layout/IconLeafLabelList"/>
    <dgm:cxn modelId="{FE43040B-9E76-4ADA-8EC5-5E1C3EA7518D}" type="presParOf" srcId="{72790896-287B-46A6-B671-78B77C6B1AB0}" destId="{31AAF9DD-7AE8-433B-9454-BEFADB9A79FB}" srcOrd="0" destOrd="0" presId="urn:microsoft.com/office/officeart/2018/5/layout/IconLeafLabelList"/>
    <dgm:cxn modelId="{39B1A108-FCA6-4FC5-8002-0280BC77B318}" type="presParOf" srcId="{72790896-287B-46A6-B671-78B77C6B1AB0}" destId="{CC8E7A33-EB7D-4A56-B3E1-1C99CC9ED0A6}" srcOrd="1" destOrd="0" presId="urn:microsoft.com/office/officeart/2018/5/layout/IconLeafLabelList"/>
    <dgm:cxn modelId="{82E3304E-FA87-48D4-8F95-D2DDFFF9141F}" type="presParOf" srcId="{72790896-287B-46A6-B671-78B77C6B1AB0}" destId="{C51A72B5-8916-4D93-AB2B-0FDB44D9EEB5}" srcOrd="2" destOrd="0" presId="urn:microsoft.com/office/officeart/2018/5/layout/IconLeafLabelList"/>
    <dgm:cxn modelId="{7C621ECA-3146-4B98-85F3-468232821769}" type="presParOf" srcId="{72790896-287B-46A6-B671-78B77C6B1AB0}" destId="{612B66D6-BCB3-491A-98C9-90EF8C14AE9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9D57F-10F3-4E23-8322-68B137986547}">
      <dsp:nvSpPr>
        <dsp:cNvPr id="0" name=""/>
        <dsp:cNvSpPr/>
      </dsp:nvSpPr>
      <dsp:spPr>
        <a:xfrm>
          <a:off x="0" y="27380"/>
          <a:ext cx="1955812" cy="19558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82AAC-69F7-4D14-85F2-8E2430A6883B}">
      <dsp:nvSpPr>
        <dsp:cNvPr id="0" name=""/>
        <dsp:cNvSpPr/>
      </dsp:nvSpPr>
      <dsp:spPr>
        <a:xfrm>
          <a:off x="447152" y="432020"/>
          <a:ext cx="947322" cy="1125464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834E1-2216-48C4-8A7A-829D684CC26B}">
      <dsp:nvSpPr>
        <dsp:cNvPr id="0" name=""/>
        <dsp:cNvSpPr/>
      </dsp:nvSpPr>
      <dsp:spPr>
        <a:xfrm>
          <a:off x="306834" y="2613223"/>
          <a:ext cx="1239011" cy="30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Browse</a:t>
          </a:r>
        </a:p>
      </dsp:txBody>
      <dsp:txXfrm>
        <a:off x="306834" y="2613223"/>
        <a:ext cx="1239011" cy="300802"/>
      </dsp:txXfrm>
    </dsp:sp>
    <dsp:sp modelId="{2A017BFA-BEE4-4E30-A90C-E2F1809CF2F5}">
      <dsp:nvSpPr>
        <dsp:cNvPr id="0" name=""/>
        <dsp:cNvSpPr/>
      </dsp:nvSpPr>
      <dsp:spPr>
        <a:xfrm>
          <a:off x="3087417" y="26927"/>
          <a:ext cx="1955812" cy="195581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E59C1-6C70-4D7D-8C31-6338157315E6}">
      <dsp:nvSpPr>
        <dsp:cNvPr id="0" name=""/>
        <dsp:cNvSpPr/>
      </dsp:nvSpPr>
      <dsp:spPr>
        <a:xfrm>
          <a:off x="3504233" y="4437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8D4C0-CB05-4631-884C-1919BD6A45A4}">
      <dsp:nvSpPr>
        <dsp:cNvPr id="0" name=""/>
        <dsp:cNvSpPr/>
      </dsp:nvSpPr>
      <dsp:spPr>
        <a:xfrm>
          <a:off x="3252384" y="2679893"/>
          <a:ext cx="1400411" cy="36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Add-to-cart</a:t>
          </a:r>
        </a:p>
      </dsp:txBody>
      <dsp:txXfrm>
        <a:off x="3252384" y="2679893"/>
        <a:ext cx="1400411" cy="361899"/>
      </dsp:txXfrm>
    </dsp:sp>
    <dsp:sp modelId="{31AAF9DD-7AE8-433B-9454-BEFADB9A79FB}">
      <dsp:nvSpPr>
        <dsp:cNvPr id="0" name=""/>
        <dsp:cNvSpPr/>
      </dsp:nvSpPr>
      <dsp:spPr>
        <a:xfrm>
          <a:off x="6155264" y="64176"/>
          <a:ext cx="1955812" cy="195581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E7A33-EB7D-4A56-B3E1-1C99CC9ED0A6}">
      <dsp:nvSpPr>
        <dsp:cNvPr id="0" name=""/>
        <dsp:cNvSpPr/>
      </dsp:nvSpPr>
      <dsp:spPr>
        <a:xfrm>
          <a:off x="6572072" y="48098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B66D6-BCB3-491A-98C9-90EF8C14AE9D}">
      <dsp:nvSpPr>
        <dsp:cNvPr id="0" name=""/>
        <dsp:cNvSpPr/>
      </dsp:nvSpPr>
      <dsp:spPr>
        <a:xfrm>
          <a:off x="6568476" y="2687807"/>
          <a:ext cx="1270622" cy="21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checkout</a:t>
          </a:r>
        </a:p>
      </dsp:txBody>
      <dsp:txXfrm>
        <a:off x="6568476" y="2687807"/>
        <a:ext cx="1270622" cy="216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7D6A3-58FC-498D-8FCC-F158510A9658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DD3C7-09A3-4FAE-BEB8-19FEF1926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10C1-68D9-426D-AFF5-EDA5A83FE26A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CA42-1A45-4FB0-8BE1-C01D6544A525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B06A-C244-4D67-B7D6-73ED97A417CC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B9DB-4E53-4561-B648-0C97F954A6E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8F65-68DA-4DE0-AA51-C1705F712F09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8D61C-CB42-4521-A465-4F00F6373107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43F9-AF82-48DC-9EF3-0CBC98B23DF1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9E4A-1422-43DE-B397-8AA34503285C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9680-FDFB-4F63-A942-14E00CD8137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91879-48A3-47A5-B5C8-C41471DFF8B2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7C44A-C59B-49C4-9531-4190F8FAE95F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8E5E-DC47-4CBE-B1BE-E523592C43BA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DA05-0A74-445A-9678-785271128EAB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CA9B6-A8AD-4AF5-BB43-51E59DFE94B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A368-3A61-4BEF-AE31-0F0140812D38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0FDF-F600-4B46-B231-29938188BEE7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8A41-3024-4EAE-B64C-415ABA25C01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6C27C16-19D4-4027-9C62-B26B19FAF244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29227B-4703-4DAD-A51E-EBA7FE3BC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4365" t="23391" r="4727"/>
          <a:stretch/>
        </p:blipFill>
        <p:spPr>
          <a:xfrm>
            <a:off x="20" y="5716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F1FE-7C96-4161-95B9-B9C1C5193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E-commerce Conversion Funnel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25207-C54B-46FA-899C-064FCA594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Funnel Stages performance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299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1D20A-AC91-40FB-9DD8-135D001E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FUNNEL STAGE DEFINITION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E04BA103-6D5B-4F5B-B2FB-77C510360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361303"/>
              </p:ext>
            </p:extLst>
          </p:nvPr>
        </p:nvGraphicFramePr>
        <p:xfrm>
          <a:off x="118533" y="2810257"/>
          <a:ext cx="11743267" cy="3209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A11321D2-4A81-48AF-A9B3-755259B88CB3}"/>
              </a:ext>
            </a:extLst>
          </p:cNvPr>
          <p:cNvSpPr/>
          <p:nvPr/>
        </p:nvSpPr>
        <p:spPr>
          <a:xfrm>
            <a:off x="2302933" y="3852333"/>
            <a:ext cx="872067" cy="194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E532E81-00CE-433B-A30D-C59A6F272E0B}"/>
              </a:ext>
            </a:extLst>
          </p:cNvPr>
          <p:cNvSpPr/>
          <p:nvPr/>
        </p:nvSpPr>
        <p:spPr>
          <a:xfrm>
            <a:off x="5359400" y="3849874"/>
            <a:ext cx="745067" cy="194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5DBB65-3E39-48BE-8D7C-9039D0B4F309}"/>
              </a:ext>
            </a:extLst>
          </p:cNvPr>
          <p:cNvSpPr/>
          <p:nvPr/>
        </p:nvSpPr>
        <p:spPr>
          <a:xfrm>
            <a:off x="9723737" y="2881059"/>
            <a:ext cx="1990125" cy="199012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7" name="Graphic 6" descr="Credit card">
            <a:extLst>
              <a:ext uri="{FF2B5EF4-FFF2-40B4-BE49-F238E27FC236}">
                <a16:creationId xmlns:a16="http://schemas.microsoft.com/office/drawing/2014/main" id="{547E8759-F840-4271-B83C-D340CADF18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23512" y="3348119"/>
            <a:ext cx="914400" cy="9144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3153E50-02A6-4A57-8558-5BBC5D4FAF57}"/>
              </a:ext>
            </a:extLst>
          </p:cNvPr>
          <p:cNvSpPr/>
          <p:nvPr/>
        </p:nvSpPr>
        <p:spPr>
          <a:xfrm>
            <a:off x="8755146" y="3849874"/>
            <a:ext cx="745067" cy="194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25E1E-0D96-4312-ADD4-05BF8696F10E}"/>
              </a:ext>
            </a:extLst>
          </p:cNvPr>
          <p:cNvSpPr txBox="1"/>
          <p:nvPr/>
        </p:nvSpPr>
        <p:spPr>
          <a:xfrm>
            <a:off x="10269060" y="5471160"/>
            <a:ext cx="1171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Segoe UI Light" panose="020B0502040204020203" pitchFamily="34" charset="0"/>
                <a:cs typeface="Segoe UI Light" panose="020B0502040204020203" pitchFamily="34" charset="0"/>
              </a:rPr>
              <a:t>PURCHASE</a:t>
            </a:r>
          </a:p>
        </p:txBody>
      </p:sp>
    </p:spTree>
    <p:extLst>
      <p:ext uri="{BB962C8B-B14F-4D97-AF65-F5344CB8AC3E}">
        <p14:creationId xmlns:p14="http://schemas.microsoft.com/office/powerpoint/2010/main" val="2515781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7BC9-CAF4-4E88-AC39-D63FD331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FUNNEL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CD4CD-6C83-47CB-9C7A-7C244B954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3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Browse         		– Stage 1</a:t>
            </a:r>
          </a:p>
          <a:p>
            <a:pPr lvl="3"/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3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Add-To-Cart			– Stage 2</a:t>
            </a:r>
          </a:p>
          <a:p>
            <a:pPr lvl="3"/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3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Checkout 			– Stage 3</a:t>
            </a:r>
          </a:p>
          <a:p>
            <a:pPr marL="1371600" lvl="3" indent="0">
              <a:buNone/>
            </a:pPr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3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Purchase			– Stage 4</a:t>
            </a:r>
          </a:p>
          <a:p>
            <a:pPr marL="1371600" lvl="3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B7B7003-D2DC-4A3E-A329-9A12F29E3F7D}"/>
              </a:ext>
            </a:extLst>
          </p:cNvPr>
          <p:cNvSpPr/>
          <p:nvPr/>
        </p:nvSpPr>
        <p:spPr>
          <a:xfrm rot="5400000">
            <a:off x="3200149" y="2629939"/>
            <a:ext cx="431800" cy="3386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FBF824D-0F05-4DA1-9626-0764F24774C8}"/>
              </a:ext>
            </a:extLst>
          </p:cNvPr>
          <p:cNvSpPr/>
          <p:nvPr/>
        </p:nvSpPr>
        <p:spPr>
          <a:xfrm rot="5400000">
            <a:off x="3200149" y="3592194"/>
            <a:ext cx="431800" cy="3386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5E5BC68-E3C7-4355-B9A9-E26346D707E7}"/>
              </a:ext>
            </a:extLst>
          </p:cNvPr>
          <p:cNvSpPr/>
          <p:nvPr/>
        </p:nvSpPr>
        <p:spPr>
          <a:xfrm rot="5400000">
            <a:off x="3200148" y="4643707"/>
            <a:ext cx="431800" cy="3386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3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1349-B872-4975-A755-047EB061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FUNNEL 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3726E6F-77C0-4F02-8062-C02FD0A09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838776"/>
              </p:ext>
            </p:extLst>
          </p:nvPr>
        </p:nvGraphicFramePr>
        <p:xfrm>
          <a:off x="1026367" y="1711985"/>
          <a:ext cx="3965512" cy="23095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82756">
                  <a:extLst>
                    <a:ext uri="{9D8B030D-6E8A-4147-A177-3AD203B41FA5}">
                      <a16:colId xmlns:a16="http://schemas.microsoft.com/office/drawing/2014/main" val="3157046724"/>
                    </a:ext>
                  </a:extLst>
                </a:gridCol>
                <a:gridCol w="1982756">
                  <a:extLst>
                    <a:ext uri="{9D8B030D-6E8A-4147-A177-3AD203B41FA5}">
                      <a16:colId xmlns:a16="http://schemas.microsoft.com/office/drawing/2014/main" val="1258437907"/>
                    </a:ext>
                  </a:extLst>
                </a:gridCol>
              </a:tblGrid>
              <a:tr h="461902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313291"/>
                  </a:ext>
                </a:extLst>
              </a:tr>
              <a:tr h="461902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Browse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94506"/>
                  </a:ext>
                </a:extLst>
              </a:tr>
              <a:tr h="461902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Add to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7059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182364"/>
                  </a:ext>
                </a:extLst>
              </a:tr>
              <a:tr h="461902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3524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380854"/>
                  </a:ext>
                </a:extLst>
              </a:tr>
              <a:tr h="461902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8089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74966D8-570C-4C99-A464-D5EE5024BDAA}"/>
              </a:ext>
            </a:extLst>
          </p:cNvPr>
          <p:cNvSpPr txBox="1"/>
          <p:nvPr/>
        </p:nvSpPr>
        <p:spPr>
          <a:xfrm>
            <a:off x="5656100" y="2873750"/>
            <a:ext cx="5756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The funnel summary shows that traffic to the company’s website within the month of analysis, October, is healthy. Drawing </a:t>
            </a:r>
            <a:r>
              <a:rPr lang="en-US" dirty="0">
                <a:highlight>
                  <a:srgbClr val="008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10,000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visitors with the intention of making a purchase. </a:t>
            </a: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However, </a:t>
            </a:r>
            <a:r>
              <a:rPr lang="en-US" dirty="0">
                <a:highlight>
                  <a:srgbClr val="80808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7059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actually added at least one item to their cart.</a:t>
            </a: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highlight>
                  <a:srgbClr val="808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3524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visitors checked out. </a:t>
            </a:r>
            <a:r>
              <a:rPr lang="en-US" dirty="0">
                <a:highlight>
                  <a:srgbClr val="808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1080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out of the checkout visitors made payment for at least one item.</a:t>
            </a:r>
          </a:p>
        </p:txBody>
      </p:sp>
    </p:spTree>
    <p:extLst>
      <p:ext uri="{BB962C8B-B14F-4D97-AF65-F5344CB8AC3E}">
        <p14:creationId xmlns:p14="http://schemas.microsoft.com/office/powerpoint/2010/main" val="187381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A1C1-6A38-4990-AF33-A91D966A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CONVERSION RATE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C63353-0EAC-4E82-ADCE-A2EB496B4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338881"/>
              </p:ext>
            </p:extLst>
          </p:nvPr>
        </p:nvGraphicFramePr>
        <p:xfrm>
          <a:off x="712236" y="1978090"/>
          <a:ext cx="10767528" cy="11663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91882">
                  <a:extLst>
                    <a:ext uri="{9D8B030D-6E8A-4147-A177-3AD203B41FA5}">
                      <a16:colId xmlns:a16="http://schemas.microsoft.com/office/drawing/2014/main" val="3655828485"/>
                    </a:ext>
                  </a:extLst>
                </a:gridCol>
                <a:gridCol w="2691882">
                  <a:extLst>
                    <a:ext uri="{9D8B030D-6E8A-4147-A177-3AD203B41FA5}">
                      <a16:colId xmlns:a16="http://schemas.microsoft.com/office/drawing/2014/main" val="2641659598"/>
                    </a:ext>
                  </a:extLst>
                </a:gridCol>
                <a:gridCol w="2691882">
                  <a:extLst>
                    <a:ext uri="{9D8B030D-6E8A-4147-A177-3AD203B41FA5}">
                      <a16:colId xmlns:a16="http://schemas.microsoft.com/office/drawing/2014/main" val="2934903788"/>
                    </a:ext>
                  </a:extLst>
                </a:gridCol>
                <a:gridCol w="2691882">
                  <a:extLst>
                    <a:ext uri="{9D8B030D-6E8A-4147-A177-3AD203B41FA5}">
                      <a16:colId xmlns:a16="http://schemas.microsoft.com/office/drawing/2014/main" val="2882957228"/>
                    </a:ext>
                  </a:extLst>
                </a:gridCol>
              </a:tblGrid>
              <a:tr h="674590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BROWSE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ADD – TO - CART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ADD – TO - CART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CHECKOUT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CHECKOUT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PURCHASE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OVERALL CONVERSION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36309"/>
                  </a:ext>
                </a:extLst>
              </a:tr>
              <a:tr h="491735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70.59%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49.92%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30.65%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10.80%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8652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1B9E28-6173-4465-A3D3-176C1AFD97C8}"/>
              </a:ext>
            </a:extLst>
          </p:cNvPr>
          <p:cNvSpPr txBox="1"/>
          <p:nvPr/>
        </p:nvSpPr>
        <p:spPr>
          <a:xfrm>
            <a:off x="646111" y="3713586"/>
            <a:ext cx="10833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Conversion continues to drop across the funnel stages, which signals either product quality issues, user experience challenges, or payment issues.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At </a:t>
            </a:r>
            <a:r>
              <a:rPr lang="en-US" dirty="0">
                <a:highlight>
                  <a:srgbClr val="008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70.59%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, the browse-to-product-view conversion rate is very healthy compared to other funnel stages. </a:t>
            </a: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 </a:t>
            </a:r>
            <a:r>
              <a:rPr lang="en-US" dirty="0">
                <a:highlight>
                  <a:srgbClr val="FF0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10.80%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overall conversion rate indicates that only </a:t>
            </a:r>
            <a:r>
              <a:rPr lang="en-US" dirty="0">
                <a:highlight>
                  <a:srgbClr val="FF0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10%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of website visitors converted. This is a major revenue leakage across the entire funnel. This signals major funnel performance concerns.</a:t>
            </a:r>
          </a:p>
        </p:txBody>
      </p:sp>
    </p:spTree>
    <p:extLst>
      <p:ext uri="{BB962C8B-B14F-4D97-AF65-F5344CB8AC3E}">
        <p14:creationId xmlns:p14="http://schemas.microsoft.com/office/powerpoint/2010/main" val="36491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7012-FA1F-45BA-88D0-529F463B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FUNNEL DROP-OFF ANALYSIS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737535-C6BF-416C-9A8B-A48EE4493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88435"/>
              </p:ext>
            </p:extLst>
          </p:nvPr>
        </p:nvGraphicFramePr>
        <p:xfrm>
          <a:off x="1055509" y="1853248"/>
          <a:ext cx="8947149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754455873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823117605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342702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FUNNEL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DROPOFF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023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Browse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Add-to-Cart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70.59%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29.41%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422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Add-to-Cart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 Checkout</a:t>
                      </a:r>
                      <a:endParaRPr lang="en-US" baseline="-250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49.92%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50.07%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272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Checkout </a:t>
                      </a:r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  <a:sym typeface="Wingdings" panose="05000000000000000000" pitchFamily="2" charset="2"/>
                        </a:rPr>
                        <a:t> Purchase</a:t>
                      </a:r>
                      <a:endParaRPr lang="en-US" baseline="-250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30.65%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69.35%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404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7E6136-A336-470E-811B-01145D744D20}"/>
              </a:ext>
            </a:extLst>
          </p:cNvPr>
          <p:cNvSpPr txBox="1"/>
          <p:nvPr/>
        </p:nvSpPr>
        <p:spPr>
          <a:xfrm>
            <a:off x="1007705" y="3588205"/>
            <a:ext cx="90427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The company loses </a:t>
            </a:r>
            <a:r>
              <a:rPr lang="en-US" dirty="0">
                <a:highlight>
                  <a:srgbClr val="80008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29.41%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of website/App users who do not add any item to their cart at the product view stage.  And the drop-off increased geometrically between the Add–to–Cart and Checkout stage to  </a:t>
            </a:r>
            <a:r>
              <a:rPr lang="en-US" dirty="0">
                <a:highlight>
                  <a:srgbClr val="FF0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50.07%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 50% loss at the Checkout stage is a huge revenue leakage. </a:t>
            </a: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Over </a:t>
            </a:r>
            <a:r>
              <a:rPr lang="en-US" dirty="0">
                <a:highlight>
                  <a:srgbClr val="FF0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69%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of users are not converted at the Purchase stage. This is the highest user-abandonment stage in the funnel.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With 10.80% overall funnel conversion rate, nearly </a:t>
            </a:r>
            <a:r>
              <a:rPr lang="en-US" dirty="0">
                <a:highlight>
                  <a:srgbClr val="FF0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89%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potential customers are lost before purchase.</a:t>
            </a:r>
          </a:p>
        </p:txBody>
      </p:sp>
    </p:spTree>
    <p:extLst>
      <p:ext uri="{BB962C8B-B14F-4D97-AF65-F5344CB8AC3E}">
        <p14:creationId xmlns:p14="http://schemas.microsoft.com/office/powerpoint/2010/main" val="3536988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661AA8-FA16-4E58-B6CE-5E6FE2A0946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1FC55D3-F645-4907-9137-B16FB6054B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F30101-685D-45DE-9DB6-1F040B2FD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Viridian all-hands presentation</Template>
  <TotalTime>0</TotalTime>
  <Words>358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Century Gothic</vt:lpstr>
      <vt:lpstr>Segoe UI Light</vt:lpstr>
      <vt:lpstr>Segoe UI Semibold</vt:lpstr>
      <vt:lpstr>Wingdings</vt:lpstr>
      <vt:lpstr>Wingdings 3</vt:lpstr>
      <vt:lpstr>Ion</vt:lpstr>
      <vt:lpstr>E-commerce Conversion Funnel Analysis</vt:lpstr>
      <vt:lpstr>FUNNEL STAGE DEFINITION</vt:lpstr>
      <vt:lpstr>FUNNEL FLOW</vt:lpstr>
      <vt:lpstr>FUNNEL SUMMARY</vt:lpstr>
      <vt:lpstr>CONVERSION RATE ANALYSIS</vt:lpstr>
      <vt:lpstr>FUNNEL DROP-OFF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2026-06-20T11:54:59Z</dcterms:created>
  <dcterms:modified xsi:type="dcterms:W3CDTF">2026-06-22T20:39:38Z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